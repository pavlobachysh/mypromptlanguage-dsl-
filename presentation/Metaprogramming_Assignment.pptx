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606C32-33DE-494C-8AAB-3CD3DC63E56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0F78ACF-8ADD-4C6D-B57C-4594477C8B0A}">
      <dgm:prSet/>
      <dgm:spPr/>
      <dgm:t>
        <a:bodyPr/>
        <a:lstStyle/>
        <a:p>
          <a:r>
            <a:rPr lang="en-150" b="1"/>
            <a:t>The Solution: </a:t>
          </a:r>
          <a:r>
            <a:rPr lang="en-US" b="1"/>
            <a:t>My prompt DSL</a:t>
          </a:r>
          <a:r>
            <a:rPr lang="en-150" b="1"/>
            <a:t> (Making prompt setup easy)</a:t>
          </a:r>
          <a:endParaRPr lang="en-US"/>
        </a:p>
      </dgm:t>
    </dgm:pt>
    <dgm:pt modelId="{8F72D860-038E-454E-8951-B3F294912243}" type="parTrans" cxnId="{24B1DCE1-E09B-4F8E-A512-CC7C4B368BB5}">
      <dgm:prSet/>
      <dgm:spPr/>
      <dgm:t>
        <a:bodyPr/>
        <a:lstStyle/>
        <a:p>
          <a:endParaRPr lang="en-US"/>
        </a:p>
      </dgm:t>
    </dgm:pt>
    <dgm:pt modelId="{C68D08AF-5A71-4B39-998F-B16C64FEE76C}" type="sibTrans" cxnId="{24B1DCE1-E09B-4F8E-A512-CC7C4B368BB5}">
      <dgm:prSet/>
      <dgm:spPr/>
      <dgm:t>
        <a:bodyPr/>
        <a:lstStyle/>
        <a:p>
          <a:endParaRPr lang="en-US"/>
        </a:p>
      </dgm:t>
    </dgm:pt>
    <dgm:pt modelId="{50575BB7-57A8-4DE8-9C07-AF695BF86009}">
      <dgm:prSet/>
      <dgm:spPr/>
      <dgm:t>
        <a:bodyPr/>
        <a:lstStyle/>
        <a:p>
          <a:r>
            <a:rPr lang="en-150" b="1"/>
            <a:t>Simpler than raw JSON: </a:t>
          </a:r>
          <a:r>
            <a:rPr lang="en-150"/>
            <a:t>No need to manually build heavy, multi-line JSON structures just to send a prompt to an API.</a:t>
          </a:r>
          <a:endParaRPr lang="en-US"/>
        </a:p>
      </dgm:t>
    </dgm:pt>
    <dgm:pt modelId="{D9CA4234-4F20-411A-9DC3-D760BEF537D9}" type="parTrans" cxnId="{05826C57-29A3-41E7-9226-3A9628076435}">
      <dgm:prSet/>
      <dgm:spPr/>
      <dgm:t>
        <a:bodyPr/>
        <a:lstStyle/>
        <a:p>
          <a:endParaRPr lang="en-US"/>
        </a:p>
      </dgm:t>
    </dgm:pt>
    <dgm:pt modelId="{54963A6B-E24A-464B-9D75-CAB92C3295EB}" type="sibTrans" cxnId="{05826C57-29A3-41E7-9226-3A9628076435}">
      <dgm:prSet/>
      <dgm:spPr/>
      <dgm:t>
        <a:bodyPr/>
        <a:lstStyle/>
        <a:p>
          <a:endParaRPr lang="en-US"/>
        </a:p>
      </dgm:t>
    </dgm:pt>
    <dgm:pt modelId="{E2C5857F-99BF-434B-9F26-FBA724424EDE}">
      <dgm:prSet/>
      <dgm:spPr/>
      <dgm:t>
        <a:bodyPr/>
        <a:lstStyle/>
        <a:p>
          <a:r>
            <a:rPr lang="en-150" b="1"/>
            <a:t>Flexible and quick syntax:</a:t>
          </a:r>
          <a:r>
            <a:rPr lang="en-150"/>
            <a:t> You can write messages formally with {} or use super-fast shortcuts like (user): without breaking JSON formatting.</a:t>
          </a:r>
          <a:endParaRPr lang="en-US"/>
        </a:p>
      </dgm:t>
    </dgm:pt>
    <dgm:pt modelId="{777550CE-47E2-41C1-B66E-6FB04E9F8D09}" type="parTrans" cxnId="{A273F492-7B01-4024-8449-F786E0ADD6D5}">
      <dgm:prSet/>
      <dgm:spPr/>
      <dgm:t>
        <a:bodyPr/>
        <a:lstStyle/>
        <a:p>
          <a:endParaRPr lang="en-US"/>
        </a:p>
      </dgm:t>
    </dgm:pt>
    <dgm:pt modelId="{805BCEBB-5DF4-48DE-A4CD-98EF4B9F9C16}" type="sibTrans" cxnId="{A273F492-7B01-4024-8449-F786E0ADD6D5}">
      <dgm:prSet/>
      <dgm:spPr/>
      <dgm:t>
        <a:bodyPr/>
        <a:lstStyle/>
        <a:p>
          <a:endParaRPr lang="en-US"/>
        </a:p>
      </dgm:t>
    </dgm:pt>
    <dgm:pt modelId="{962A5080-419C-401A-A299-1D26338BCBE2}">
      <dgm:prSet/>
      <dgm:spPr/>
      <dgm:t>
        <a:bodyPr/>
        <a:lstStyle/>
        <a:p>
          <a:r>
            <a:rPr lang="en-150" b="1"/>
            <a:t>Automatic background check:</a:t>
          </a:r>
          <a:r>
            <a:rPr lang="en-150"/>
            <a:t> The compiler automatically turns your clean text file into a valid JSON for OpenAI/Anthropic and catches formatting errors on the fly.</a:t>
          </a:r>
          <a:endParaRPr lang="en-US"/>
        </a:p>
      </dgm:t>
    </dgm:pt>
    <dgm:pt modelId="{C62A6203-73FF-4F0E-915C-AE59972FA951}" type="parTrans" cxnId="{947636A9-DDC4-44D3-B160-BE1BB1EFED35}">
      <dgm:prSet/>
      <dgm:spPr/>
      <dgm:t>
        <a:bodyPr/>
        <a:lstStyle/>
        <a:p>
          <a:endParaRPr lang="en-US"/>
        </a:p>
      </dgm:t>
    </dgm:pt>
    <dgm:pt modelId="{496B0C3B-EBBF-41E3-BF73-73AB0A34E599}" type="sibTrans" cxnId="{947636A9-DDC4-44D3-B160-BE1BB1EFED35}">
      <dgm:prSet/>
      <dgm:spPr/>
      <dgm:t>
        <a:bodyPr/>
        <a:lstStyle/>
        <a:p>
          <a:endParaRPr lang="en-US"/>
        </a:p>
      </dgm:t>
    </dgm:pt>
    <dgm:pt modelId="{94D5951F-2FDE-4907-A3B8-2BD121EEAC54}" type="pres">
      <dgm:prSet presAssocID="{53606C32-33DE-494C-8AAB-3CD3DC63E56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7297EC1-119C-467C-A5EE-8FFB6349E453}" type="pres">
      <dgm:prSet presAssocID="{90F78ACF-8ADD-4C6D-B57C-4594477C8B0A}" presName="hierRoot1" presStyleCnt="0"/>
      <dgm:spPr/>
    </dgm:pt>
    <dgm:pt modelId="{502E6F24-9BD7-4EA1-BE40-713E205F23F5}" type="pres">
      <dgm:prSet presAssocID="{90F78ACF-8ADD-4C6D-B57C-4594477C8B0A}" presName="composite" presStyleCnt="0"/>
      <dgm:spPr/>
    </dgm:pt>
    <dgm:pt modelId="{25A1EA9D-0725-4937-9800-331C307F7806}" type="pres">
      <dgm:prSet presAssocID="{90F78ACF-8ADD-4C6D-B57C-4594477C8B0A}" presName="background" presStyleLbl="node0" presStyleIdx="0" presStyleCnt="4"/>
      <dgm:spPr/>
    </dgm:pt>
    <dgm:pt modelId="{500EEABD-052A-4FB9-89DF-9D11BA79CD7C}" type="pres">
      <dgm:prSet presAssocID="{90F78ACF-8ADD-4C6D-B57C-4594477C8B0A}" presName="text" presStyleLbl="fgAcc0" presStyleIdx="0" presStyleCnt="4">
        <dgm:presLayoutVars>
          <dgm:chPref val="3"/>
        </dgm:presLayoutVars>
      </dgm:prSet>
      <dgm:spPr/>
    </dgm:pt>
    <dgm:pt modelId="{BF6459BA-38E0-4CA6-B0D9-B2315D37AB16}" type="pres">
      <dgm:prSet presAssocID="{90F78ACF-8ADD-4C6D-B57C-4594477C8B0A}" presName="hierChild2" presStyleCnt="0"/>
      <dgm:spPr/>
    </dgm:pt>
    <dgm:pt modelId="{CE49453F-CD38-444F-8D24-9D1CB3B0B842}" type="pres">
      <dgm:prSet presAssocID="{50575BB7-57A8-4DE8-9C07-AF695BF86009}" presName="hierRoot1" presStyleCnt="0"/>
      <dgm:spPr/>
    </dgm:pt>
    <dgm:pt modelId="{079764B1-FE61-4864-93A9-414AECD3A6D0}" type="pres">
      <dgm:prSet presAssocID="{50575BB7-57A8-4DE8-9C07-AF695BF86009}" presName="composite" presStyleCnt="0"/>
      <dgm:spPr/>
    </dgm:pt>
    <dgm:pt modelId="{4DAA7267-B63B-43DA-9875-9220970FC93F}" type="pres">
      <dgm:prSet presAssocID="{50575BB7-57A8-4DE8-9C07-AF695BF86009}" presName="background" presStyleLbl="node0" presStyleIdx="1" presStyleCnt="4"/>
      <dgm:spPr/>
    </dgm:pt>
    <dgm:pt modelId="{29895C7C-7A24-466A-BD21-42B80198801A}" type="pres">
      <dgm:prSet presAssocID="{50575BB7-57A8-4DE8-9C07-AF695BF86009}" presName="text" presStyleLbl="fgAcc0" presStyleIdx="1" presStyleCnt="4">
        <dgm:presLayoutVars>
          <dgm:chPref val="3"/>
        </dgm:presLayoutVars>
      </dgm:prSet>
      <dgm:spPr/>
    </dgm:pt>
    <dgm:pt modelId="{58677007-8AD7-4C16-9369-C48D00A0BC8B}" type="pres">
      <dgm:prSet presAssocID="{50575BB7-57A8-4DE8-9C07-AF695BF86009}" presName="hierChild2" presStyleCnt="0"/>
      <dgm:spPr/>
    </dgm:pt>
    <dgm:pt modelId="{B3D736A9-E8D9-4E95-B2EA-FEDF285A667D}" type="pres">
      <dgm:prSet presAssocID="{E2C5857F-99BF-434B-9F26-FBA724424EDE}" presName="hierRoot1" presStyleCnt="0"/>
      <dgm:spPr/>
    </dgm:pt>
    <dgm:pt modelId="{4619D2AD-7D93-4E41-90F3-42AA4C2857BE}" type="pres">
      <dgm:prSet presAssocID="{E2C5857F-99BF-434B-9F26-FBA724424EDE}" presName="composite" presStyleCnt="0"/>
      <dgm:spPr/>
    </dgm:pt>
    <dgm:pt modelId="{3FFD8651-524E-4002-891F-08D1DB7F2131}" type="pres">
      <dgm:prSet presAssocID="{E2C5857F-99BF-434B-9F26-FBA724424EDE}" presName="background" presStyleLbl="node0" presStyleIdx="2" presStyleCnt="4"/>
      <dgm:spPr/>
    </dgm:pt>
    <dgm:pt modelId="{EA87AFD8-957A-470D-87C6-47A192720431}" type="pres">
      <dgm:prSet presAssocID="{E2C5857F-99BF-434B-9F26-FBA724424EDE}" presName="text" presStyleLbl="fgAcc0" presStyleIdx="2" presStyleCnt="4">
        <dgm:presLayoutVars>
          <dgm:chPref val="3"/>
        </dgm:presLayoutVars>
      </dgm:prSet>
      <dgm:spPr/>
    </dgm:pt>
    <dgm:pt modelId="{47EB598D-0AB0-4150-9A38-B9CC73512EF8}" type="pres">
      <dgm:prSet presAssocID="{E2C5857F-99BF-434B-9F26-FBA724424EDE}" presName="hierChild2" presStyleCnt="0"/>
      <dgm:spPr/>
    </dgm:pt>
    <dgm:pt modelId="{2BCE3EB8-F44B-47F8-9649-AF9CCB8C8717}" type="pres">
      <dgm:prSet presAssocID="{962A5080-419C-401A-A299-1D26338BCBE2}" presName="hierRoot1" presStyleCnt="0"/>
      <dgm:spPr/>
    </dgm:pt>
    <dgm:pt modelId="{A1F2D990-78C5-4A6C-AEEB-31DECF87D34F}" type="pres">
      <dgm:prSet presAssocID="{962A5080-419C-401A-A299-1D26338BCBE2}" presName="composite" presStyleCnt="0"/>
      <dgm:spPr/>
    </dgm:pt>
    <dgm:pt modelId="{1155707E-73BF-48FB-AF58-C3BFC45ED74E}" type="pres">
      <dgm:prSet presAssocID="{962A5080-419C-401A-A299-1D26338BCBE2}" presName="background" presStyleLbl="node0" presStyleIdx="3" presStyleCnt="4"/>
      <dgm:spPr/>
    </dgm:pt>
    <dgm:pt modelId="{C2A4DD5B-F0FA-4FC2-B413-CDC8015BBC13}" type="pres">
      <dgm:prSet presAssocID="{962A5080-419C-401A-A299-1D26338BCBE2}" presName="text" presStyleLbl="fgAcc0" presStyleIdx="3" presStyleCnt="4">
        <dgm:presLayoutVars>
          <dgm:chPref val="3"/>
        </dgm:presLayoutVars>
      </dgm:prSet>
      <dgm:spPr/>
    </dgm:pt>
    <dgm:pt modelId="{8EFA5934-5437-42EF-9EEB-0257A358CE77}" type="pres">
      <dgm:prSet presAssocID="{962A5080-419C-401A-A299-1D26338BCBE2}" presName="hierChild2" presStyleCnt="0"/>
      <dgm:spPr/>
    </dgm:pt>
  </dgm:ptLst>
  <dgm:cxnLst>
    <dgm:cxn modelId="{7FBC9821-A1B0-4B9F-B997-5C454FB871A0}" type="presOf" srcId="{53606C32-33DE-494C-8AAB-3CD3DC63E566}" destId="{94D5951F-2FDE-4907-A3B8-2BD121EEAC54}" srcOrd="0" destOrd="0" presId="urn:microsoft.com/office/officeart/2005/8/layout/hierarchy1"/>
    <dgm:cxn modelId="{63176A30-C451-4B20-87D2-51E7D000DF99}" type="presOf" srcId="{E2C5857F-99BF-434B-9F26-FBA724424EDE}" destId="{EA87AFD8-957A-470D-87C6-47A192720431}" srcOrd="0" destOrd="0" presId="urn:microsoft.com/office/officeart/2005/8/layout/hierarchy1"/>
    <dgm:cxn modelId="{19ABA572-1097-4B49-9654-A0567624BDEA}" type="presOf" srcId="{50575BB7-57A8-4DE8-9C07-AF695BF86009}" destId="{29895C7C-7A24-466A-BD21-42B80198801A}" srcOrd="0" destOrd="0" presId="urn:microsoft.com/office/officeart/2005/8/layout/hierarchy1"/>
    <dgm:cxn modelId="{05826C57-29A3-41E7-9226-3A9628076435}" srcId="{53606C32-33DE-494C-8AAB-3CD3DC63E566}" destId="{50575BB7-57A8-4DE8-9C07-AF695BF86009}" srcOrd="1" destOrd="0" parTransId="{D9CA4234-4F20-411A-9DC3-D760BEF537D9}" sibTransId="{54963A6B-E24A-464B-9D75-CAB92C3295EB}"/>
    <dgm:cxn modelId="{A273F492-7B01-4024-8449-F786E0ADD6D5}" srcId="{53606C32-33DE-494C-8AAB-3CD3DC63E566}" destId="{E2C5857F-99BF-434B-9F26-FBA724424EDE}" srcOrd="2" destOrd="0" parTransId="{777550CE-47E2-41C1-B66E-6FB04E9F8D09}" sibTransId="{805BCEBB-5DF4-48DE-A4CD-98EF4B9F9C16}"/>
    <dgm:cxn modelId="{947636A9-DDC4-44D3-B160-BE1BB1EFED35}" srcId="{53606C32-33DE-494C-8AAB-3CD3DC63E566}" destId="{962A5080-419C-401A-A299-1D26338BCBE2}" srcOrd="3" destOrd="0" parTransId="{C62A6203-73FF-4F0E-915C-AE59972FA951}" sibTransId="{496B0C3B-EBBF-41E3-BF73-73AB0A34E599}"/>
    <dgm:cxn modelId="{E89C73DE-0D59-44B0-8ADF-C36B68D42BB9}" type="presOf" srcId="{962A5080-419C-401A-A299-1D26338BCBE2}" destId="{C2A4DD5B-F0FA-4FC2-B413-CDC8015BBC13}" srcOrd="0" destOrd="0" presId="urn:microsoft.com/office/officeart/2005/8/layout/hierarchy1"/>
    <dgm:cxn modelId="{24B1DCE1-E09B-4F8E-A512-CC7C4B368BB5}" srcId="{53606C32-33DE-494C-8AAB-3CD3DC63E566}" destId="{90F78ACF-8ADD-4C6D-B57C-4594477C8B0A}" srcOrd="0" destOrd="0" parTransId="{8F72D860-038E-454E-8951-B3F294912243}" sibTransId="{C68D08AF-5A71-4B39-998F-B16C64FEE76C}"/>
    <dgm:cxn modelId="{E3CA58EF-3A83-4725-BD2C-E80C2488CB0D}" type="presOf" srcId="{90F78ACF-8ADD-4C6D-B57C-4594477C8B0A}" destId="{500EEABD-052A-4FB9-89DF-9D11BA79CD7C}" srcOrd="0" destOrd="0" presId="urn:microsoft.com/office/officeart/2005/8/layout/hierarchy1"/>
    <dgm:cxn modelId="{B32D35C6-3304-4618-A8B5-976A1735907D}" type="presParOf" srcId="{94D5951F-2FDE-4907-A3B8-2BD121EEAC54}" destId="{57297EC1-119C-467C-A5EE-8FFB6349E453}" srcOrd="0" destOrd="0" presId="urn:microsoft.com/office/officeart/2005/8/layout/hierarchy1"/>
    <dgm:cxn modelId="{FFF41A84-3CA9-4CF1-8DF9-D7B7E8A840C6}" type="presParOf" srcId="{57297EC1-119C-467C-A5EE-8FFB6349E453}" destId="{502E6F24-9BD7-4EA1-BE40-713E205F23F5}" srcOrd="0" destOrd="0" presId="urn:microsoft.com/office/officeart/2005/8/layout/hierarchy1"/>
    <dgm:cxn modelId="{D8256B1B-7237-401A-9165-53EDACAB97A1}" type="presParOf" srcId="{502E6F24-9BD7-4EA1-BE40-713E205F23F5}" destId="{25A1EA9D-0725-4937-9800-331C307F7806}" srcOrd="0" destOrd="0" presId="urn:microsoft.com/office/officeart/2005/8/layout/hierarchy1"/>
    <dgm:cxn modelId="{00D1D08F-BB59-4381-B3E0-3EDFD900E685}" type="presParOf" srcId="{502E6F24-9BD7-4EA1-BE40-713E205F23F5}" destId="{500EEABD-052A-4FB9-89DF-9D11BA79CD7C}" srcOrd="1" destOrd="0" presId="urn:microsoft.com/office/officeart/2005/8/layout/hierarchy1"/>
    <dgm:cxn modelId="{B1D8EA90-5222-40D6-9F99-E98579BE1EFC}" type="presParOf" srcId="{57297EC1-119C-467C-A5EE-8FFB6349E453}" destId="{BF6459BA-38E0-4CA6-B0D9-B2315D37AB16}" srcOrd="1" destOrd="0" presId="urn:microsoft.com/office/officeart/2005/8/layout/hierarchy1"/>
    <dgm:cxn modelId="{D720412D-A3EE-408D-B4F8-EBD7FA67467A}" type="presParOf" srcId="{94D5951F-2FDE-4907-A3B8-2BD121EEAC54}" destId="{CE49453F-CD38-444F-8D24-9D1CB3B0B842}" srcOrd="1" destOrd="0" presId="urn:microsoft.com/office/officeart/2005/8/layout/hierarchy1"/>
    <dgm:cxn modelId="{A68257D5-D989-4300-8AC5-290E381C195C}" type="presParOf" srcId="{CE49453F-CD38-444F-8D24-9D1CB3B0B842}" destId="{079764B1-FE61-4864-93A9-414AECD3A6D0}" srcOrd="0" destOrd="0" presId="urn:microsoft.com/office/officeart/2005/8/layout/hierarchy1"/>
    <dgm:cxn modelId="{F786783B-3DD2-4E5D-8F62-7F822D4BCF04}" type="presParOf" srcId="{079764B1-FE61-4864-93A9-414AECD3A6D0}" destId="{4DAA7267-B63B-43DA-9875-9220970FC93F}" srcOrd="0" destOrd="0" presId="urn:microsoft.com/office/officeart/2005/8/layout/hierarchy1"/>
    <dgm:cxn modelId="{00E92082-3451-47A0-AC90-D64E4F4F0608}" type="presParOf" srcId="{079764B1-FE61-4864-93A9-414AECD3A6D0}" destId="{29895C7C-7A24-466A-BD21-42B80198801A}" srcOrd="1" destOrd="0" presId="urn:microsoft.com/office/officeart/2005/8/layout/hierarchy1"/>
    <dgm:cxn modelId="{1811C63A-C1BD-4C50-A9E6-45DCCEC3534C}" type="presParOf" srcId="{CE49453F-CD38-444F-8D24-9D1CB3B0B842}" destId="{58677007-8AD7-4C16-9369-C48D00A0BC8B}" srcOrd="1" destOrd="0" presId="urn:microsoft.com/office/officeart/2005/8/layout/hierarchy1"/>
    <dgm:cxn modelId="{CF1CEFB8-C52D-49F3-974B-22BCCFFB8CE4}" type="presParOf" srcId="{94D5951F-2FDE-4907-A3B8-2BD121EEAC54}" destId="{B3D736A9-E8D9-4E95-B2EA-FEDF285A667D}" srcOrd="2" destOrd="0" presId="urn:microsoft.com/office/officeart/2005/8/layout/hierarchy1"/>
    <dgm:cxn modelId="{AC4331A3-2FC0-44E4-985A-BF9AB01C6D06}" type="presParOf" srcId="{B3D736A9-E8D9-4E95-B2EA-FEDF285A667D}" destId="{4619D2AD-7D93-4E41-90F3-42AA4C2857BE}" srcOrd="0" destOrd="0" presId="urn:microsoft.com/office/officeart/2005/8/layout/hierarchy1"/>
    <dgm:cxn modelId="{FA900145-1426-4171-9236-985BBB28BEB4}" type="presParOf" srcId="{4619D2AD-7D93-4E41-90F3-42AA4C2857BE}" destId="{3FFD8651-524E-4002-891F-08D1DB7F2131}" srcOrd="0" destOrd="0" presId="urn:microsoft.com/office/officeart/2005/8/layout/hierarchy1"/>
    <dgm:cxn modelId="{D30BA60D-8021-49C4-AE68-907B8A075F5F}" type="presParOf" srcId="{4619D2AD-7D93-4E41-90F3-42AA4C2857BE}" destId="{EA87AFD8-957A-470D-87C6-47A192720431}" srcOrd="1" destOrd="0" presId="urn:microsoft.com/office/officeart/2005/8/layout/hierarchy1"/>
    <dgm:cxn modelId="{5E436B50-40CB-4B32-A351-8250E7EC5823}" type="presParOf" srcId="{B3D736A9-E8D9-4E95-B2EA-FEDF285A667D}" destId="{47EB598D-0AB0-4150-9A38-B9CC73512EF8}" srcOrd="1" destOrd="0" presId="urn:microsoft.com/office/officeart/2005/8/layout/hierarchy1"/>
    <dgm:cxn modelId="{53B42D33-38DB-4EE4-96B0-116118F567CE}" type="presParOf" srcId="{94D5951F-2FDE-4907-A3B8-2BD121EEAC54}" destId="{2BCE3EB8-F44B-47F8-9649-AF9CCB8C8717}" srcOrd="3" destOrd="0" presId="urn:microsoft.com/office/officeart/2005/8/layout/hierarchy1"/>
    <dgm:cxn modelId="{76D03CF4-561A-4032-BB30-98A76339B847}" type="presParOf" srcId="{2BCE3EB8-F44B-47F8-9649-AF9CCB8C8717}" destId="{A1F2D990-78C5-4A6C-AEEB-31DECF87D34F}" srcOrd="0" destOrd="0" presId="urn:microsoft.com/office/officeart/2005/8/layout/hierarchy1"/>
    <dgm:cxn modelId="{47B75415-1E69-4E03-B4E4-82FBE258A86F}" type="presParOf" srcId="{A1F2D990-78C5-4A6C-AEEB-31DECF87D34F}" destId="{1155707E-73BF-48FB-AF58-C3BFC45ED74E}" srcOrd="0" destOrd="0" presId="urn:microsoft.com/office/officeart/2005/8/layout/hierarchy1"/>
    <dgm:cxn modelId="{AF3DF087-470D-4B83-8202-A5C0BAD08701}" type="presParOf" srcId="{A1F2D990-78C5-4A6C-AEEB-31DECF87D34F}" destId="{C2A4DD5B-F0FA-4FC2-B413-CDC8015BBC13}" srcOrd="1" destOrd="0" presId="urn:microsoft.com/office/officeart/2005/8/layout/hierarchy1"/>
    <dgm:cxn modelId="{B23D4A97-0714-4ABA-AC45-3844F22AA23B}" type="presParOf" srcId="{2BCE3EB8-F44B-47F8-9649-AF9CCB8C8717}" destId="{8EFA5934-5437-42EF-9EEB-0257A358CE7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1EA9D-0725-4937-9800-331C307F7806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0EEABD-052A-4FB9-89DF-9D11BA79CD7C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150" sz="1200" b="1" kern="1200"/>
            <a:t>The Solution: </a:t>
          </a:r>
          <a:r>
            <a:rPr lang="en-US" sz="1200" b="1" kern="1200"/>
            <a:t>My prompt DSL</a:t>
          </a:r>
          <a:r>
            <a:rPr lang="en-150" sz="1200" b="1" kern="1200"/>
            <a:t> (Making prompt setup easy)</a:t>
          </a:r>
          <a:endParaRPr lang="en-US" sz="1200" kern="1200"/>
        </a:p>
      </dsp:txBody>
      <dsp:txXfrm>
        <a:off x="299702" y="1282093"/>
        <a:ext cx="2200851" cy="1366505"/>
      </dsp:txXfrm>
    </dsp:sp>
    <dsp:sp modelId="{4DAA7267-B63B-43DA-9875-9220970FC93F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895C7C-7A24-466A-BD21-42B80198801A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150" sz="1200" b="1" kern="1200"/>
            <a:t>Simpler than raw JSON: </a:t>
          </a:r>
          <a:r>
            <a:rPr lang="en-150" sz="1200" kern="1200"/>
            <a:t>No need to manually build heavy, multi-line JSON structures just to send a prompt to an API.</a:t>
          </a:r>
          <a:endParaRPr lang="en-US" sz="1200" kern="1200"/>
        </a:p>
      </dsp:txBody>
      <dsp:txXfrm>
        <a:off x="3093555" y="1282093"/>
        <a:ext cx="2200851" cy="1366505"/>
      </dsp:txXfrm>
    </dsp:sp>
    <dsp:sp modelId="{3FFD8651-524E-4002-891F-08D1DB7F2131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7AFD8-957A-470D-87C6-47A192720431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150" sz="1200" b="1" kern="1200"/>
            <a:t>Flexible and quick syntax:</a:t>
          </a:r>
          <a:r>
            <a:rPr lang="en-150" sz="1200" kern="1200"/>
            <a:t> You can write messages formally with {} or use super-fast shortcuts like (user): without breaking JSON formatting.</a:t>
          </a:r>
          <a:endParaRPr lang="en-US" sz="1200" kern="1200"/>
        </a:p>
      </dsp:txBody>
      <dsp:txXfrm>
        <a:off x="5887408" y="1282093"/>
        <a:ext cx="2200851" cy="1366505"/>
      </dsp:txXfrm>
    </dsp:sp>
    <dsp:sp modelId="{1155707E-73BF-48FB-AF58-C3BFC45ED74E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4DD5B-F0FA-4FC2-B413-CDC8015BBC13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150" sz="1200" b="1" kern="1200"/>
            <a:t>Automatic background check:</a:t>
          </a:r>
          <a:r>
            <a:rPr lang="en-150" sz="1200" kern="1200"/>
            <a:t> The compiler automatically turns your clean text file into a valid JSON for OpenAI/Anthropic and catches formatting errors on the fly.</a:t>
          </a:r>
          <a:endParaRPr lang="en-US" sz="1200" kern="1200"/>
        </a:p>
      </dsp:txBody>
      <dsp:txXfrm>
        <a:off x="8681261" y="1282093"/>
        <a:ext cx="2200851" cy="13665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90318-C782-4AE1-94B3-94E1A2B87206}" type="datetimeFigureOut">
              <a:rPr lang="uk-UA" smtClean="0"/>
              <a:t>10.06.2026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102DE-6A01-4F2D-A279-EDBFA346FB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80605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102DE-6A01-4F2D-A279-EDBFA346FBC7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67933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5C48-9BE3-7C9E-788C-BBE852F36D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A000F-CB75-B202-9C05-479B03F12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F5DCE-EC94-53A6-D723-920AB5D4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BBE9-2170-4B79-B394-A055EE2E9C00}" type="datetimeFigureOut">
              <a:rPr lang="uk-UA" smtClean="0"/>
              <a:t>10.06.2026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F252A-B895-7129-6458-7602F2C10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AEC3B-FE62-C7C1-0B28-5B7305C5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A366B-7D83-40A5-8A36-0B29D343BDE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2685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28516-903E-F99D-8F00-0EBA1DDC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892AB-37AD-4C2E-1048-CD39A5E07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ADC49-7529-180A-30C5-992E088C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BBE9-2170-4B79-B394-A055EE2E9C00}" type="datetimeFigureOut">
              <a:rPr lang="uk-UA" smtClean="0"/>
              <a:t>10.06.2026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578FC-3DBF-970F-8D0C-F815E33A9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CB82F-7E03-076A-24B5-CA1EEDE8F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A366B-7D83-40A5-8A36-0B29D343BDE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87211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DC9DB-AC56-FAD0-8A17-398D39D6B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634CC-4A5B-BD44-32B4-50717E72B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8EB2B-61D0-D80F-FB51-3EC40F7C9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BBE9-2170-4B79-B394-A055EE2E9C00}" type="datetimeFigureOut">
              <a:rPr lang="uk-UA" smtClean="0"/>
              <a:t>10.06.2026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CC4B9-4A4F-36E5-E090-AF7686B1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9C46A-A42E-09BC-D8F8-1013CA9C9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A366B-7D83-40A5-8A36-0B29D343BDE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10592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7D321-5896-002A-B524-6E1259EB9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BA889-F317-1843-2F94-CB6E39328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980B1-A7F6-57F2-8BE5-C4CF57AD8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F51F1-44FE-5B9B-C7D1-B200B66CE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BBE9-2170-4B79-B394-A055EE2E9C00}" type="datetimeFigureOut">
              <a:rPr lang="uk-UA" smtClean="0"/>
              <a:t>10.06.2026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1AEFC-8B2F-A175-EE6A-42AEE62BF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B8A7E-DA38-50E8-3C34-8ED33D41B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A366B-7D83-40A5-8A36-0B29D343BDE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6407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2CB75-03E4-7AA6-13EF-EE1E0705E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75857-5AB9-BC80-FB0F-F0EBD45CA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18A3D-3263-B9A1-A36E-B5F5A7008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5D666-721D-7A19-5725-8FF10CB98B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E9E54C-6C9C-E45E-E78E-F61FA1143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C4BB25-44A9-961E-F689-B6B0DA5CB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BBE9-2170-4B79-B394-A055EE2E9C00}" type="datetimeFigureOut">
              <a:rPr lang="uk-UA" smtClean="0"/>
              <a:t>10.06.2026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E88679-EFD0-1C1A-B595-FDBBB2325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6B06C-81DD-0B9D-54D2-0D827AFF3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A366B-7D83-40A5-8A36-0B29D343BDE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02028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EFF47-997B-05A9-4B86-CECC3FA8C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AE066-5767-4426-4935-D858F21ED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BBE9-2170-4B79-B394-A055EE2E9C00}" type="datetimeFigureOut">
              <a:rPr lang="uk-UA" smtClean="0"/>
              <a:t>10.06.2026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95F3A-BDF5-EBC9-4441-D283AC188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D817F-0D23-45D6-D763-37061C28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A366B-7D83-40A5-8A36-0B29D343BDE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95270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7523D-B8D2-0C3B-C1EB-EB5BEF830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BBE9-2170-4B79-B394-A055EE2E9C00}" type="datetimeFigureOut">
              <a:rPr lang="uk-UA" smtClean="0"/>
              <a:t>10.06.2026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4448DE-2789-BF08-8F89-266D99611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6D93E-F13E-121C-4052-7EB58F8CE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A366B-7D83-40A5-8A36-0B29D343BDE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47770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A5513-8162-7300-966A-AC27F036E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20C87-7569-E0CF-D031-FBF2F7A9A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3EB6CF-8CE1-0AD9-D160-37E572CF2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74086-512A-6006-374B-DD7350EFC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BBE9-2170-4B79-B394-A055EE2E9C00}" type="datetimeFigureOut">
              <a:rPr lang="uk-UA" smtClean="0"/>
              <a:t>10.06.2026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E308E-1D64-0F2F-EFE5-69CE7FF5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09D7A-F43A-7265-52B4-EB51EBAC9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A366B-7D83-40A5-8A36-0B29D343BDE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15854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FA5D0-1E1C-3537-3833-D86435F1A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43187A-C578-FF51-13A3-CE0BE3A97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3C800-86FD-8724-1039-D0A35C18F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4FD8C-DA9E-BA02-5325-881AFA140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BBE9-2170-4B79-B394-A055EE2E9C00}" type="datetimeFigureOut">
              <a:rPr lang="uk-UA" smtClean="0"/>
              <a:t>10.06.2026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59344-86F4-41F5-CFCF-C00697D31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96BBF-927F-875D-8635-3140023D7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A366B-7D83-40A5-8A36-0B29D343BDE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9903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17B8-7336-797C-D055-1D8712642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41376-CADC-874C-C895-5305A0B63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7539B-587E-22B5-B912-D2B298991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BBE9-2170-4B79-B394-A055EE2E9C00}" type="datetimeFigureOut">
              <a:rPr lang="uk-UA" smtClean="0"/>
              <a:t>10.06.2026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A0414-A4D6-D4FD-10E5-D08B21574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90FCC-CD15-EE13-BA4F-92744D28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A366B-7D83-40A5-8A36-0B29D343BDE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33615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45B694-DC21-F5D8-D4AD-548EE2621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A83730-7E62-01F7-3F35-EAEBC1BCE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65263-BF8B-7CC8-D5C1-18A83976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BBE9-2170-4B79-B394-A055EE2E9C00}" type="datetimeFigureOut">
              <a:rPr lang="uk-UA" smtClean="0"/>
              <a:t>10.06.2026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262F8-F212-327D-BCA3-C8B3A5008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643CB-CF75-4203-D909-8E114091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A366B-7D83-40A5-8A36-0B29D343BDE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50518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16A2C-7644-13E4-C080-AC20B7034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DBDDB-B72C-E831-8EC6-FF8AE7645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D14D-29C4-F736-F5BE-802C565A4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5BBE9-2170-4B79-B394-A055EE2E9C00}" type="datetimeFigureOut">
              <a:rPr lang="uk-UA" smtClean="0"/>
              <a:t>10.06.2026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9EC2F-74B4-8B28-8B71-E688E61437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8065-DFA4-AD58-0C8F-931FA27B8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DA366B-7D83-40A5-8A36-0B29D343BDE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48824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150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7EE35-6A7F-7241-6047-43F1AF8C0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150" sz="4800">
                <a:solidFill>
                  <a:srgbClr val="FFFFFF"/>
                </a:solidFill>
              </a:rPr>
              <a:t>Language Implementation within the Prompt Engineering</a:t>
            </a:r>
            <a:endParaRPr lang="uk-UA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FD709-13F0-41DD-4481-3E4F0C745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Pavlo Bachysh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04206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CD742A-3A2A-EE7F-AFF0-52CDDD11F36F}"/>
              </a:ext>
            </a:extLst>
          </p:cNvPr>
          <p:cNvSpPr txBox="1"/>
          <p:nvPr/>
        </p:nvSpPr>
        <p:spPr>
          <a:xfrm>
            <a:off x="644056" y="355203"/>
            <a:ext cx="10294375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1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Problem: Hard to manage prompts in LLM APIs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1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adding LLMs to applications, developers cannot send just raw text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1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they must follow strict Chat Completion API schemas.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1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means wrapping every message into complex JSON objects with specific keys (messages, role, content).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1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Writing long, multi-line prompts inside rigid JSON files leads to syntax mistakes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4F751051-7193-7935-1C28-19EFCC639F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941609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7080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C38CD-7070-F3E2-D390-B84869E0E530}"/>
              </a:ext>
            </a:extLst>
          </p:cNvPr>
          <p:cNvSpPr txBox="1"/>
          <p:nvPr/>
        </p:nvSpPr>
        <p:spPr>
          <a:xfrm>
            <a:off x="229673" y="1794520"/>
            <a:ext cx="5785047" cy="1913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language is built with </a:t>
            </a:r>
            <a:r>
              <a:rPr lang="en-US" sz="2000" b="1" dirty="0" err="1"/>
              <a:t>textX</a:t>
            </a:r>
            <a:r>
              <a:rPr lang="en-US" sz="2000" dirty="0"/>
              <a:t>, a Python tool for making DSLs.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It reads the configuration files using a simple grammar file and turns the text into Python objects.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36FC9C-585E-B787-C525-914B8318521C}"/>
              </a:ext>
            </a:extLst>
          </p:cNvPr>
          <p:cNvSpPr txBox="1"/>
          <p:nvPr/>
        </p:nvSpPr>
        <p:spPr>
          <a:xfrm>
            <a:off x="6325673" y="1797784"/>
            <a:ext cx="5785047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150" b="1" dirty="0"/>
              <a:t>The </a:t>
            </a:r>
            <a:r>
              <a:rPr lang="en-US" b="1" dirty="0" err="1"/>
              <a:t>standart</a:t>
            </a:r>
            <a:r>
              <a:rPr lang="en-150" b="1" dirty="0"/>
              <a:t> </a:t>
            </a:r>
            <a:r>
              <a:rPr lang="en-US" b="1" dirty="0"/>
              <a:t>way</a:t>
            </a:r>
            <a:r>
              <a:rPr lang="en-150" b="1" dirty="0"/>
              <a:t>:</a:t>
            </a:r>
            <a:r>
              <a:rPr lang="en-150" dirty="0"/>
              <a:t> Developers have to put every prompt and message into messy, nested JSON structures.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My</a:t>
            </a:r>
            <a:r>
              <a:rPr lang="en-150" b="1" dirty="0"/>
              <a:t> </a:t>
            </a:r>
            <a:r>
              <a:rPr lang="en-US" b="1" dirty="0"/>
              <a:t>solution</a:t>
            </a:r>
            <a:r>
              <a:rPr lang="en-150" b="1" dirty="0"/>
              <a:t>:</a:t>
            </a:r>
            <a:r>
              <a:rPr lang="en-150" dirty="0"/>
              <a:t> Users don't write JSON at all. They just type parameters and simple dialogue lines.</a:t>
            </a:r>
          </a:p>
        </p:txBody>
      </p:sp>
      <p:pic>
        <p:nvPicPr>
          <p:cNvPr id="8" name="Picture 7" descr="textX · GitHub">
            <a:extLst>
              <a:ext uri="{FF2B5EF4-FFF2-40B4-BE49-F238E27FC236}">
                <a16:creationId xmlns:a16="http://schemas.microsoft.com/office/drawing/2014/main" id="{CA766CD8-78F7-C4E8-9D6E-D045B5A37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719" y="3345657"/>
            <a:ext cx="3484562" cy="34845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7AB995-7E6A-3A53-3560-50B2A2FB6F56}"/>
              </a:ext>
            </a:extLst>
          </p:cNvPr>
          <p:cNvSpPr txBox="1"/>
          <p:nvPr/>
        </p:nvSpPr>
        <p:spPr>
          <a:xfrm>
            <a:off x="2019307" y="581946"/>
            <a:ext cx="2202426" cy="42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chemeClr val="bg1"/>
                </a:solidFill>
              </a:rPr>
              <a:t>The tool: </a:t>
            </a:r>
            <a:r>
              <a:rPr lang="en-US" sz="2400" b="1" dirty="0" err="1">
                <a:solidFill>
                  <a:schemeClr val="bg1"/>
                </a:solidFill>
              </a:rPr>
              <a:t>textX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87B987-FF1B-024E-5ABF-71C1A657E23C}"/>
              </a:ext>
            </a:extLst>
          </p:cNvPr>
          <p:cNvSpPr txBox="1"/>
          <p:nvPr/>
        </p:nvSpPr>
        <p:spPr>
          <a:xfrm>
            <a:off x="6014720" y="3798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bg1"/>
                </a:solidFill>
              </a:rPr>
              <a:t>The main idea</a:t>
            </a:r>
            <a:r>
              <a:rPr lang="en-150" sz="2400" b="1" dirty="0">
                <a:solidFill>
                  <a:schemeClr val="bg1"/>
                </a:solidFill>
              </a:rPr>
              <a:t>: From Complex JSON to Simple Strings</a:t>
            </a:r>
            <a:endParaRPr lang="en-150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438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E8CEE0-2608-D819-710E-A75206DD389D}"/>
              </a:ext>
            </a:extLst>
          </p:cNvPr>
          <p:cNvSpPr txBox="1"/>
          <p:nvPr/>
        </p:nvSpPr>
        <p:spPr>
          <a:xfrm>
            <a:off x="304800" y="1041022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200" dirty="0" err="1"/>
              <a:t>PromptConfig</a:t>
            </a:r>
            <a:r>
              <a:rPr lang="uk-UA" sz="1200" dirty="0"/>
              <a:t>:</a:t>
            </a:r>
          </a:p>
          <a:p>
            <a:r>
              <a:rPr lang="uk-UA" sz="1200" dirty="0"/>
              <a:t>    </a:t>
            </a:r>
            <a:r>
              <a:rPr lang="uk-UA" sz="1200" dirty="0" err="1"/>
              <a:t>rules</a:t>
            </a:r>
            <a:r>
              <a:rPr lang="uk-UA" sz="1200" dirty="0"/>
              <a:t>*=</a:t>
            </a:r>
            <a:r>
              <a:rPr lang="uk-UA" sz="1200" dirty="0" err="1"/>
              <a:t>ConfigRule</a:t>
            </a:r>
            <a:endParaRPr lang="uk-UA" sz="1200" dirty="0"/>
          </a:p>
          <a:p>
            <a:r>
              <a:rPr lang="uk-UA" sz="1200" dirty="0"/>
              <a:t>;</a:t>
            </a:r>
          </a:p>
          <a:p>
            <a:endParaRPr lang="uk-UA" sz="1200" dirty="0"/>
          </a:p>
          <a:p>
            <a:r>
              <a:rPr lang="uk-UA" sz="1200" dirty="0" err="1"/>
              <a:t>ConfigRule</a:t>
            </a:r>
            <a:r>
              <a:rPr lang="uk-UA" sz="1200" dirty="0"/>
              <a:t>:</a:t>
            </a:r>
          </a:p>
          <a:p>
            <a:r>
              <a:rPr lang="uk-UA" sz="1200" dirty="0"/>
              <a:t>    </a:t>
            </a:r>
            <a:r>
              <a:rPr lang="uk-UA" sz="1200" dirty="0" err="1"/>
              <a:t>ModelRule</a:t>
            </a:r>
            <a:r>
              <a:rPr lang="uk-UA" sz="1200" dirty="0"/>
              <a:t> | (</a:t>
            </a:r>
            <a:r>
              <a:rPr lang="uk-UA" sz="1200" dirty="0" err="1"/>
              <a:t>TemperatureRule</a:t>
            </a:r>
            <a:r>
              <a:rPr lang="uk-UA" sz="1200" dirty="0"/>
              <a:t> | </a:t>
            </a:r>
            <a:r>
              <a:rPr lang="uk-UA" sz="1200" dirty="0" err="1"/>
              <a:t>TopPRule</a:t>
            </a:r>
            <a:r>
              <a:rPr lang="uk-UA" sz="1200" dirty="0"/>
              <a:t>) | </a:t>
            </a:r>
            <a:r>
              <a:rPr lang="uk-UA" sz="1200" dirty="0" err="1"/>
              <a:t>MaxTokenRule</a:t>
            </a:r>
            <a:r>
              <a:rPr lang="uk-UA" sz="1200" dirty="0"/>
              <a:t> | </a:t>
            </a:r>
            <a:r>
              <a:rPr lang="uk-UA" sz="1200" dirty="0" err="1"/>
              <a:t>PresencePenaltyRule</a:t>
            </a:r>
            <a:r>
              <a:rPr lang="uk-UA" sz="1200" dirty="0"/>
              <a:t> | </a:t>
            </a:r>
            <a:r>
              <a:rPr lang="uk-UA" sz="1200" dirty="0" err="1"/>
              <a:t>FrequencyPenaltyRule</a:t>
            </a:r>
            <a:r>
              <a:rPr lang="uk-UA" sz="1200" dirty="0"/>
              <a:t> | </a:t>
            </a:r>
            <a:r>
              <a:rPr lang="uk-UA" sz="1200" dirty="0" err="1"/>
              <a:t>ReasoningEffortRule</a:t>
            </a:r>
            <a:r>
              <a:rPr lang="uk-UA" sz="1200" dirty="0"/>
              <a:t> | </a:t>
            </a:r>
            <a:r>
              <a:rPr lang="uk-UA" sz="1200" dirty="0" err="1"/>
              <a:t>MessagesRule</a:t>
            </a:r>
            <a:endParaRPr lang="uk-UA" sz="1200" dirty="0"/>
          </a:p>
          <a:p>
            <a:r>
              <a:rPr lang="uk-UA" sz="1200" dirty="0"/>
              <a:t>;</a:t>
            </a:r>
          </a:p>
          <a:p>
            <a:endParaRPr lang="uk-UA" sz="1200" dirty="0"/>
          </a:p>
          <a:p>
            <a:r>
              <a:rPr lang="uk-UA" sz="1200" dirty="0" err="1"/>
              <a:t>ModelRule</a:t>
            </a:r>
            <a:r>
              <a:rPr lang="uk-UA" sz="1200" dirty="0"/>
              <a:t>:</a:t>
            </a:r>
          </a:p>
          <a:p>
            <a:r>
              <a:rPr lang="uk-UA" sz="1200" dirty="0"/>
              <a:t>    '</a:t>
            </a:r>
            <a:r>
              <a:rPr lang="uk-UA" sz="1200" dirty="0" err="1"/>
              <a:t>model</a:t>
            </a:r>
            <a:r>
              <a:rPr lang="uk-UA" sz="1200" dirty="0"/>
              <a:t>' '=' </a:t>
            </a:r>
            <a:r>
              <a:rPr lang="uk-UA" sz="1200" dirty="0" err="1"/>
              <a:t>model</a:t>
            </a:r>
            <a:r>
              <a:rPr lang="uk-UA" sz="1200" dirty="0"/>
              <a:t>=MODELS</a:t>
            </a:r>
          </a:p>
          <a:p>
            <a:r>
              <a:rPr lang="uk-UA" sz="1200" dirty="0"/>
              <a:t>;</a:t>
            </a:r>
          </a:p>
          <a:p>
            <a:endParaRPr lang="uk-UA" sz="1200" dirty="0"/>
          </a:p>
          <a:p>
            <a:r>
              <a:rPr lang="uk-UA" sz="1200" dirty="0"/>
              <a:t>MODELS:</a:t>
            </a:r>
          </a:p>
          <a:p>
            <a:r>
              <a:rPr lang="uk-UA" sz="1200" dirty="0"/>
              <a:t>    'gpt-4o' | 'gpt-4-turbo'</a:t>
            </a:r>
          </a:p>
          <a:p>
            <a:r>
              <a:rPr lang="uk-UA" sz="1200" dirty="0"/>
              <a:t>;</a:t>
            </a:r>
          </a:p>
          <a:p>
            <a:endParaRPr lang="uk-UA" sz="1200" dirty="0"/>
          </a:p>
          <a:p>
            <a:r>
              <a:rPr lang="uk-UA" sz="1200" dirty="0" err="1"/>
              <a:t>MessagesRule</a:t>
            </a:r>
            <a:r>
              <a:rPr lang="uk-UA" sz="1200" dirty="0"/>
              <a:t>:</a:t>
            </a:r>
          </a:p>
          <a:p>
            <a:r>
              <a:rPr lang="uk-UA" sz="1200" dirty="0"/>
              <a:t>    '</a:t>
            </a:r>
            <a:r>
              <a:rPr lang="uk-UA" sz="1200" dirty="0" err="1"/>
              <a:t>messages</a:t>
            </a:r>
            <a:r>
              <a:rPr lang="uk-UA" sz="1200" dirty="0"/>
              <a:t>' '{' </a:t>
            </a:r>
            <a:r>
              <a:rPr lang="uk-UA" sz="1200" dirty="0" err="1"/>
              <a:t>messages</a:t>
            </a:r>
            <a:r>
              <a:rPr lang="uk-UA" sz="1200" dirty="0"/>
              <a:t>+=MESSAGE[','] '}'</a:t>
            </a:r>
          </a:p>
          <a:p>
            <a:r>
              <a:rPr lang="uk-UA" sz="1200" dirty="0"/>
              <a:t>;</a:t>
            </a:r>
          </a:p>
          <a:p>
            <a:endParaRPr lang="uk-UA" sz="1200" dirty="0"/>
          </a:p>
          <a:p>
            <a:r>
              <a:rPr lang="uk-UA" sz="1200" dirty="0"/>
              <a:t>MESSAGE:</a:t>
            </a:r>
          </a:p>
          <a:p>
            <a:r>
              <a:rPr lang="uk-UA" sz="1200" dirty="0"/>
              <a:t>    '{' </a:t>
            </a:r>
          </a:p>
          <a:p>
            <a:r>
              <a:rPr lang="uk-UA" sz="1200" dirty="0"/>
              <a:t>    '</a:t>
            </a:r>
            <a:r>
              <a:rPr lang="uk-UA" sz="1200" dirty="0" err="1"/>
              <a:t>role</a:t>
            </a:r>
            <a:r>
              <a:rPr lang="uk-UA" sz="1200" dirty="0"/>
              <a:t>' ':' </a:t>
            </a:r>
            <a:r>
              <a:rPr lang="uk-UA" sz="1200" dirty="0" err="1"/>
              <a:t>role</a:t>
            </a:r>
            <a:r>
              <a:rPr lang="uk-UA" sz="1200" dirty="0"/>
              <a:t>=ROLES ','</a:t>
            </a:r>
          </a:p>
          <a:p>
            <a:r>
              <a:rPr lang="uk-UA" sz="1200" dirty="0"/>
              <a:t>    '</a:t>
            </a:r>
            <a:r>
              <a:rPr lang="uk-UA" sz="1200" dirty="0" err="1"/>
              <a:t>content</a:t>
            </a:r>
            <a:r>
              <a:rPr lang="uk-UA" sz="1200" dirty="0"/>
              <a:t>' ':' </a:t>
            </a:r>
            <a:r>
              <a:rPr lang="uk-UA" sz="1200" dirty="0" err="1"/>
              <a:t>content</a:t>
            </a:r>
            <a:r>
              <a:rPr lang="uk-UA" sz="1200" dirty="0"/>
              <a:t>=STRING</a:t>
            </a:r>
          </a:p>
          <a:p>
            <a:r>
              <a:rPr lang="uk-UA" sz="1200" dirty="0"/>
              <a:t>    '}'</a:t>
            </a:r>
          </a:p>
          <a:p>
            <a:r>
              <a:rPr lang="uk-UA" sz="1200" dirty="0"/>
              <a:t>    |</a:t>
            </a:r>
          </a:p>
          <a:p>
            <a:r>
              <a:rPr lang="uk-UA" sz="1200" dirty="0"/>
              <a:t>    '('</a:t>
            </a:r>
            <a:r>
              <a:rPr lang="uk-UA" sz="1200" dirty="0" err="1"/>
              <a:t>role</a:t>
            </a:r>
            <a:r>
              <a:rPr lang="uk-UA" sz="1200" dirty="0"/>
              <a:t>=ROLES')' (':' | '-')? </a:t>
            </a:r>
            <a:r>
              <a:rPr lang="uk-UA" sz="1200" dirty="0" err="1"/>
              <a:t>content</a:t>
            </a:r>
            <a:r>
              <a:rPr lang="uk-UA" sz="1200" dirty="0"/>
              <a:t>=STRING</a:t>
            </a:r>
          </a:p>
          <a:p>
            <a:r>
              <a:rPr lang="uk-UA" sz="1200" dirty="0"/>
              <a:t>;</a:t>
            </a:r>
          </a:p>
          <a:p>
            <a:endParaRPr lang="uk-UA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8D640-8C22-5E84-0808-D52C58D24AEF}"/>
              </a:ext>
            </a:extLst>
          </p:cNvPr>
          <p:cNvSpPr txBox="1"/>
          <p:nvPr/>
        </p:nvSpPr>
        <p:spPr>
          <a:xfrm>
            <a:off x="6567377" y="1041023"/>
            <a:ext cx="5929423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200" dirty="0"/>
              <a:t>ROLES:</a:t>
            </a:r>
          </a:p>
          <a:p>
            <a:r>
              <a:rPr lang="uk-UA" sz="1200" dirty="0"/>
              <a:t>    '</a:t>
            </a:r>
            <a:r>
              <a:rPr lang="uk-UA" sz="1200" dirty="0" err="1"/>
              <a:t>system</a:t>
            </a:r>
            <a:r>
              <a:rPr lang="uk-UA" sz="1200" dirty="0"/>
              <a:t>' | '</a:t>
            </a:r>
            <a:r>
              <a:rPr lang="uk-UA" sz="1200" dirty="0" err="1"/>
              <a:t>user</a:t>
            </a:r>
            <a:r>
              <a:rPr lang="uk-UA" sz="1200" dirty="0"/>
              <a:t>' | '</a:t>
            </a:r>
            <a:r>
              <a:rPr lang="uk-UA" sz="1200" dirty="0" err="1"/>
              <a:t>assistant</a:t>
            </a:r>
            <a:r>
              <a:rPr lang="uk-UA" sz="1200" dirty="0"/>
              <a:t>'</a:t>
            </a:r>
          </a:p>
          <a:p>
            <a:r>
              <a:rPr lang="uk-UA" sz="1200" dirty="0"/>
              <a:t>;</a:t>
            </a:r>
          </a:p>
          <a:p>
            <a:endParaRPr lang="uk-UA" sz="1200" dirty="0"/>
          </a:p>
          <a:p>
            <a:r>
              <a:rPr lang="uk-UA" sz="1200" dirty="0" err="1"/>
              <a:t>TemperatureRule</a:t>
            </a:r>
            <a:r>
              <a:rPr lang="uk-UA" sz="1200" dirty="0"/>
              <a:t>:</a:t>
            </a:r>
          </a:p>
          <a:p>
            <a:r>
              <a:rPr lang="uk-UA" sz="1200" dirty="0"/>
              <a:t>    '</a:t>
            </a:r>
            <a:r>
              <a:rPr lang="uk-UA" sz="1200" dirty="0" err="1"/>
              <a:t>temperature</a:t>
            </a:r>
            <a:r>
              <a:rPr lang="uk-UA" sz="1200" dirty="0"/>
              <a:t>' '=' </a:t>
            </a:r>
            <a:r>
              <a:rPr lang="uk-UA" sz="1200" dirty="0" err="1"/>
              <a:t>temperature</a:t>
            </a:r>
            <a:r>
              <a:rPr lang="uk-UA" sz="1200" dirty="0"/>
              <a:t>=FLOAT</a:t>
            </a:r>
          </a:p>
          <a:p>
            <a:r>
              <a:rPr lang="uk-UA" sz="1200" dirty="0"/>
              <a:t>;</a:t>
            </a:r>
          </a:p>
          <a:p>
            <a:endParaRPr lang="uk-UA" sz="1200" dirty="0"/>
          </a:p>
          <a:p>
            <a:r>
              <a:rPr lang="uk-UA" sz="1200" dirty="0" err="1"/>
              <a:t>TopPRule</a:t>
            </a:r>
            <a:r>
              <a:rPr lang="uk-UA" sz="1200" dirty="0"/>
              <a:t>:</a:t>
            </a:r>
          </a:p>
          <a:p>
            <a:r>
              <a:rPr lang="uk-UA" sz="1200" dirty="0"/>
              <a:t>    '</a:t>
            </a:r>
            <a:r>
              <a:rPr lang="uk-UA" sz="1200" dirty="0" err="1"/>
              <a:t>top_p</a:t>
            </a:r>
            <a:r>
              <a:rPr lang="uk-UA" sz="1200" dirty="0"/>
              <a:t>' '=' </a:t>
            </a:r>
            <a:r>
              <a:rPr lang="uk-UA" sz="1200" dirty="0" err="1"/>
              <a:t>top_p</a:t>
            </a:r>
            <a:r>
              <a:rPr lang="uk-UA" sz="1200" dirty="0"/>
              <a:t>=FLOAT</a:t>
            </a:r>
          </a:p>
          <a:p>
            <a:r>
              <a:rPr lang="uk-UA" sz="1200" dirty="0"/>
              <a:t>;</a:t>
            </a:r>
          </a:p>
          <a:p>
            <a:endParaRPr lang="uk-UA" sz="1200" dirty="0"/>
          </a:p>
          <a:p>
            <a:r>
              <a:rPr lang="uk-UA" sz="1200" dirty="0" err="1"/>
              <a:t>MaxTokenRule</a:t>
            </a:r>
            <a:r>
              <a:rPr lang="uk-UA" sz="1200" dirty="0"/>
              <a:t>:</a:t>
            </a:r>
          </a:p>
          <a:p>
            <a:r>
              <a:rPr lang="uk-UA" sz="1200" dirty="0"/>
              <a:t>    '</a:t>
            </a:r>
            <a:r>
              <a:rPr lang="uk-UA" sz="1200" dirty="0" err="1"/>
              <a:t>max_completion_tokens</a:t>
            </a:r>
            <a:r>
              <a:rPr lang="uk-UA" sz="1200" dirty="0"/>
              <a:t>' '=' </a:t>
            </a:r>
            <a:r>
              <a:rPr lang="uk-UA" sz="1200" dirty="0" err="1"/>
              <a:t>max_completion_tokens</a:t>
            </a:r>
            <a:r>
              <a:rPr lang="uk-UA" sz="1200" dirty="0"/>
              <a:t>=INT</a:t>
            </a:r>
          </a:p>
          <a:p>
            <a:r>
              <a:rPr lang="uk-UA" sz="1200" dirty="0"/>
              <a:t>;</a:t>
            </a:r>
          </a:p>
          <a:p>
            <a:endParaRPr lang="uk-UA" sz="1200" dirty="0"/>
          </a:p>
          <a:p>
            <a:r>
              <a:rPr lang="uk-UA" sz="1200" dirty="0" err="1"/>
              <a:t>PresencePenaltyRule</a:t>
            </a:r>
            <a:r>
              <a:rPr lang="uk-UA" sz="1200" dirty="0"/>
              <a:t>:</a:t>
            </a:r>
          </a:p>
          <a:p>
            <a:r>
              <a:rPr lang="uk-UA" sz="1200" dirty="0"/>
              <a:t>    '</a:t>
            </a:r>
            <a:r>
              <a:rPr lang="uk-UA" sz="1200" dirty="0" err="1"/>
              <a:t>presence_penalty</a:t>
            </a:r>
            <a:r>
              <a:rPr lang="uk-UA" sz="1200" dirty="0"/>
              <a:t>' '=' </a:t>
            </a:r>
            <a:r>
              <a:rPr lang="uk-UA" sz="1200" dirty="0" err="1"/>
              <a:t>presence_penalty</a:t>
            </a:r>
            <a:r>
              <a:rPr lang="uk-UA" sz="1200" dirty="0"/>
              <a:t>=FLOAT</a:t>
            </a:r>
          </a:p>
          <a:p>
            <a:r>
              <a:rPr lang="uk-UA" sz="1200" dirty="0"/>
              <a:t>;</a:t>
            </a:r>
          </a:p>
          <a:p>
            <a:endParaRPr lang="uk-UA" sz="1200" dirty="0"/>
          </a:p>
          <a:p>
            <a:r>
              <a:rPr lang="uk-UA" sz="1200" dirty="0" err="1"/>
              <a:t>FrequencyPenaltyRule</a:t>
            </a:r>
            <a:r>
              <a:rPr lang="uk-UA" sz="1200" dirty="0"/>
              <a:t>:</a:t>
            </a:r>
          </a:p>
          <a:p>
            <a:r>
              <a:rPr lang="uk-UA" sz="1200" dirty="0"/>
              <a:t>    '</a:t>
            </a:r>
            <a:r>
              <a:rPr lang="uk-UA" sz="1200" dirty="0" err="1"/>
              <a:t>frequency_penalty</a:t>
            </a:r>
            <a:r>
              <a:rPr lang="uk-UA" sz="1200" dirty="0"/>
              <a:t>' '=' </a:t>
            </a:r>
            <a:r>
              <a:rPr lang="uk-UA" sz="1200" dirty="0" err="1"/>
              <a:t>frequency_penalty</a:t>
            </a:r>
            <a:r>
              <a:rPr lang="uk-UA" sz="1200" dirty="0"/>
              <a:t>=FLOAT</a:t>
            </a:r>
          </a:p>
          <a:p>
            <a:r>
              <a:rPr lang="uk-UA" sz="1200" dirty="0"/>
              <a:t>;</a:t>
            </a:r>
          </a:p>
          <a:p>
            <a:endParaRPr lang="uk-UA" sz="1200" dirty="0"/>
          </a:p>
          <a:p>
            <a:r>
              <a:rPr lang="uk-UA" sz="1200" dirty="0" err="1"/>
              <a:t>ReasoningEffortRule</a:t>
            </a:r>
            <a:r>
              <a:rPr lang="uk-UA" sz="1200" dirty="0"/>
              <a:t>:</a:t>
            </a:r>
          </a:p>
          <a:p>
            <a:r>
              <a:rPr lang="uk-UA" sz="1200" dirty="0"/>
              <a:t>    '</a:t>
            </a:r>
            <a:r>
              <a:rPr lang="uk-UA" sz="1200" dirty="0" err="1"/>
              <a:t>reasoning_effort</a:t>
            </a:r>
            <a:r>
              <a:rPr lang="uk-UA" sz="1200" dirty="0"/>
              <a:t>' '=' </a:t>
            </a:r>
            <a:r>
              <a:rPr lang="uk-UA" sz="1200" dirty="0" err="1"/>
              <a:t>reasoning_effort</a:t>
            </a:r>
            <a:r>
              <a:rPr lang="uk-UA" sz="1200" dirty="0"/>
              <a:t>=EFFORT</a:t>
            </a:r>
          </a:p>
          <a:p>
            <a:r>
              <a:rPr lang="uk-UA" sz="1200" dirty="0"/>
              <a:t>;</a:t>
            </a:r>
          </a:p>
          <a:p>
            <a:endParaRPr lang="uk-UA" sz="1200" dirty="0"/>
          </a:p>
          <a:p>
            <a:r>
              <a:rPr lang="uk-UA" sz="1200" dirty="0"/>
              <a:t>EFFORT:</a:t>
            </a:r>
          </a:p>
          <a:p>
            <a:r>
              <a:rPr lang="uk-UA" sz="1200" dirty="0"/>
              <a:t>    '</a:t>
            </a:r>
            <a:r>
              <a:rPr lang="uk-UA" sz="1200" dirty="0" err="1"/>
              <a:t>low</a:t>
            </a:r>
            <a:r>
              <a:rPr lang="uk-UA" sz="1200" dirty="0"/>
              <a:t>' | '</a:t>
            </a:r>
            <a:r>
              <a:rPr lang="uk-UA" sz="1200" dirty="0" err="1"/>
              <a:t>medium</a:t>
            </a:r>
            <a:r>
              <a:rPr lang="uk-UA" sz="1200" dirty="0"/>
              <a:t>' | '</a:t>
            </a:r>
            <a:r>
              <a:rPr lang="uk-UA" sz="1200" dirty="0" err="1"/>
              <a:t>high</a:t>
            </a:r>
            <a:r>
              <a:rPr lang="uk-UA" sz="1200" dirty="0"/>
              <a:t>'</a:t>
            </a:r>
          </a:p>
          <a:p>
            <a:r>
              <a:rPr lang="uk-UA" sz="1200" dirty="0"/>
              <a:t>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618C6B-EE4E-C779-3957-F105D3897BC2}"/>
              </a:ext>
            </a:extLst>
          </p:cNvPr>
          <p:cNvSpPr txBox="1"/>
          <p:nvPr/>
        </p:nvSpPr>
        <p:spPr>
          <a:xfrm>
            <a:off x="4970206" y="0"/>
            <a:ext cx="4454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grammar.tx</a:t>
            </a:r>
            <a:endParaRPr lang="uk-UA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693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4C28C-A06B-36AD-4187-7E9189AE3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5" y="3429000"/>
            <a:ext cx="12127185" cy="3462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3488F6-239D-2692-18D9-7D613DC3C5B3}"/>
              </a:ext>
            </a:extLst>
          </p:cNvPr>
          <p:cNvSpPr txBox="1"/>
          <p:nvPr/>
        </p:nvSpPr>
        <p:spPr>
          <a:xfrm>
            <a:off x="337457" y="146600"/>
            <a:ext cx="6096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PromptConfig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*=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ConfigRule</a:t>
            </a:r>
            <a:endParaRPr lang="uk-U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uk-U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ConfigRule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ModelRule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TemperatureRule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TopPRule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MaxTokenRule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PresencePenaltyRule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FrequencyPenaltyRule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ReasoningEffortRule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MessagesRule</a:t>
            </a:r>
            <a:endParaRPr lang="uk-U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uk-U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ModelRule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'='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=MODELS</a:t>
            </a: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uk-U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MODELS:</a:t>
            </a: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'gpt-4o' | 'gpt-4-turbo'</a:t>
            </a: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854BC-D432-43B9-61DA-5337CFE6594F}"/>
              </a:ext>
            </a:extLst>
          </p:cNvPr>
          <p:cNvSpPr txBox="1"/>
          <p:nvPr/>
        </p:nvSpPr>
        <p:spPr>
          <a:xfrm>
            <a:off x="6615003" y="146600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MessagesRule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messages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'{'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messages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+=MESSAGE[','] '}'</a:t>
            </a: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uk-U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MESSAGE:</a:t>
            </a: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'{' </a:t>
            </a: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':'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=ROLES ','</a:t>
            </a: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':'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=STRING</a:t>
            </a: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'}'</a:t>
            </a: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|</a:t>
            </a: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'('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=ROLES')' (':' | '-')?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=STRING</a:t>
            </a:r>
          </a:p>
          <a:p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99577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720115-6266-55F0-9451-7C8B57268276}"/>
              </a:ext>
            </a:extLst>
          </p:cNvPr>
          <p:cNvSpPr/>
          <p:nvPr/>
        </p:nvSpPr>
        <p:spPr>
          <a:xfrm>
            <a:off x="364671" y="285135"/>
            <a:ext cx="11168568" cy="39034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152056-E036-E03C-B696-8676A304153D}"/>
              </a:ext>
            </a:extLst>
          </p:cNvPr>
          <p:cNvSpPr txBox="1"/>
          <p:nvPr/>
        </p:nvSpPr>
        <p:spPr>
          <a:xfrm>
            <a:off x="364671" y="374437"/>
            <a:ext cx="114626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Limitation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1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ValueError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1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1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your value 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1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but it must be higher than 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and lower that 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1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ValueError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1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1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your value 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1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but it must be higher than 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1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5D9702-A3EC-4EE9-8383-21120FA804E8}"/>
              </a:ext>
            </a:extLst>
          </p:cNvPr>
          <p:cNvSpPr txBox="1"/>
          <p:nvPr/>
        </p:nvSpPr>
        <p:spPr>
          <a:xfrm>
            <a:off x="522514" y="4996543"/>
            <a:ext cx="101019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temperature [0.0; 2.0]</a:t>
            </a:r>
          </a:p>
          <a:p>
            <a:r>
              <a:rPr lang="en-US" dirty="0" err="1"/>
              <a:t>top_p</a:t>
            </a:r>
            <a:r>
              <a:rPr lang="en-US" dirty="0"/>
              <a:t> [0.0; 1.0]</a:t>
            </a:r>
          </a:p>
          <a:p>
            <a:r>
              <a:rPr lang="en-150" dirty="0" err="1"/>
              <a:t>max_completion_tokens</a:t>
            </a:r>
            <a:r>
              <a:rPr lang="en-US" dirty="0"/>
              <a:t> (0; +inf)</a:t>
            </a:r>
            <a:endParaRPr lang="en-150" dirty="0"/>
          </a:p>
          <a:p>
            <a:r>
              <a:rPr lang="en-150" dirty="0" err="1"/>
              <a:t>presence_penalty</a:t>
            </a:r>
            <a:r>
              <a:rPr lang="en-US" dirty="0"/>
              <a:t> [-2.0; 2.0]</a:t>
            </a:r>
          </a:p>
          <a:p>
            <a:r>
              <a:rPr lang="en-150" dirty="0" err="1"/>
              <a:t>frequency_penalty</a:t>
            </a:r>
            <a:r>
              <a:rPr lang="en-US" dirty="0"/>
              <a:t> [-2.0; 2.0]</a:t>
            </a:r>
          </a:p>
          <a:p>
            <a:endParaRPr lang="en-150" dirty="0"/>
          </a:p>
          <a:p>
            <a:endParaRPr lang="en-150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58352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B9B36B-8FF2-8AAE-4237-48012C156964}"/>
              </a:ext>
            </a:extLst>
          </p:cNvPr>
          <p:cNvSpPr/>
          <p:nvPr/>
        </p:nvSpPr>
        <p:spPr>
          <a:xfrm>
            <a:off x="4837471" y="3706760"/>
            <a:ext cx="7220552" cy="301955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A19807-7416-B590-8814-670A6510BE37}"/>
              </a:ext>
            </a:extLst>
          </p:cNvPr>
          <p:cNvSpPr/>
          <p:nvPr/>
        </p:nvSpPr>
        <p:spPr>
          <a:xfrm>
            <a:off x="168027" y="131682"/>
            <a:ext cx="5809986" cy="21887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5B2186-99C8-1751-CF28-E3F2B16BD13C}"/>
              </a:ext>
            </a:extLst>
          </p:cNvPr>
          <p:cNvSpPr txBox="1"/>
          <p:nvPr/>
        </p:nvSpPr>
        <p:spPr>
          <a:xfrm>
            <a:off x="-208496" y="25706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resault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{}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rule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1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.rules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rule_type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rule</a:t>
            </a:r>
            <a:r>
              <a:rPr lang="en-1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__class__</a:t>
            </a:r>
            <a:r>
              <a:rPr lang="en-1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</a:t>
            </a:r>
            <a:r>
              <a:rPr lang="en-1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endParaRPr lang="en-1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rule_type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1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ModelRule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resault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"model"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rule</a:t>
            </a:r>
            <a:r>
              <a:rPr lang="en-1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.model</a:t>
            </a:r>
            <a:endParaRPr lang="en-1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EAF60F-3469-7174-E6C6-2BF84C1F1AD7}"/>
              </a:ext>
            </a:extLst>
          </p:cNvPr>
          <p:cNvSpPr txBox="1"/>
          <p:nvPr/>
        </p:nvSpPr>
        <p:spPr>
          <a:xfrm>
            <a:off x="6213989" y="593798"/>
            <a:ext cx="57034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Comparing type of rule for each described rule in prompt with all possible rules and adding it’s property  to a dictionary 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1C9317-F577-1952-6B59-DB97CF64CD52}"/>
              </a:ext>
            </a:extLst>
          </p:cNvPr>
          <p:cNvSpPr txBox="1"/>
          <p:nvPr/>
        </p:nvSpPr>
        <p:spPr>
          <a:xfrm>
            <a:off x="4965290" y="3924355"/>
            <a:ext cx="798053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1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MessagesRule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1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messages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rule</a:t>
            </a:r>
            <a:r>
              <a:rPr lang="en-1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.messages</a:t>
            </a:r>
            <a:endParaRPr lang="en-1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messages_array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messages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{}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1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.role</a:t>
            </a:r>
            <a:endParaRPr lang="en-1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1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.content</a:t>
            </a:r>
            <a:endParaRPr lang="en-1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messages_array</a:t>
            </a:r>
            <a:r>
              <a:rPr lang="en-1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1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resault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"messages"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messages_array</a:t>
            </a:r>
            <a:endParaRPr lang="en-1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5761A-7397-D73B-9D0B-7B44A3CC9E33}"/>
              </a:ext>
            </a:extLst>
          </p:cNvPr>
          <p:cNvSpPr txBox="1"/>
          <p:nvPr/>
        </p:nvSpPr>
        <p:spPr>
          <a:xfrm>
            <a:off x="168027" y="4846610"/>
            <a:ext cx="4536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 handling for the </a:t>
            </a:r>
            <a:r>
              <a:rPr lang="en-US" dirty="0" err="1"/>
              <a:t>MessagesRule</a:t>
            </a:r>
            <a:r>
              <a:rPr lang="en-US" dirty="0"/>
              <a:t>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23097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98E2A9-F289-1CD9-7BF9-F2CDC3DF17C4}"/>
              </a:ext>
            </a:extLst>
          </p:cNvPr>
          <p:cNvSpPr/>
          <p:nvPr/>
        </p:nvSpPr>
        <p:spPr>
          <a:xfrm>
            <a:off x="314632" y="3106992"/>
            <a:ext cx="11503741" cy="18976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E32E8E-4994-D62F-73E7-F13298BAC364}"/>
              </a:ext>
            </a:extLst>
          </p:cNvPr>
          <p:cNvSpPr/>
          <p:nvPr/>
        </p:nvSpPr>
        <p:spPr>
          <a:xfrm>
            <a:off x="314632" y="285136"/>
            <a:ext cx="11503741" cy="13551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13003D-A83C-219C-D611-7E5CD5A8D2AD}"/>
              </a:ext>
            </a:extLst>
          </p:cNvPr>
          <p:cNvSpPr txBox="1"/>
          <p:nvPr/>
        </p:nvSpPr>
        <p:spPr>
          <a:xfrm>
            <a:off x="373627" y="501042"/>
            <a:ext cx="119307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1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top_p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resault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"temperature"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resault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1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"It is not </a:t>
            </a:r>
            <a:r>
              <a:rPr lang="en-1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recomended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to use both </a:t>
            </a:r>
            <a:r>
              <a:rPr lang="en-1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top_p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and temperature. It may cause some troubles."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C0B951-21E1-5B80-5D04-DC1BF63C69EC}"/>
              </a:ext>
            </a:extLst>
          </p:cNvPr>
          <p:cNvSpPr txBox="1"/>
          <p:nvPr/>
        </p:nvSpPr>
        <p:spPr>
          <a:xfrm>
            <a:off x="314632" y="1783110"/>
            <a:ext cx="1010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Warning if somebody use both </a:t>
            </a:r>
            <a:r>
              <a:rPr lang="en-US" dirty="0" err="1"/>
              <a:t>top_p</a:t>
            </a:r>
            <a:r>
              <a:rPr lang="en-US" dirty="0"/>
              <a:t> and temperature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399AB-B5F9-9EAB-49E7-36DC551FDA5B}"/>
              </a:ext>
            </a:extLst>
          </p:cNvPr>
          <p:cNvSpPr txBox="1"/>
          <p:nvPr/>
        </p:nvSpPr>
        <p:spPr>
          <a:xfrm>
            <a:off x="314632" y="3317141"/>
            <a:ext cx="117674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output_filename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1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output.json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1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1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output_filename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'w'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1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'utf-8'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1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json_file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1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1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1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dump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resault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json_file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1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indent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1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1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ensure_ascii</a:t>
            </a:r>
            <a:r>
              <a:rPr lang="en-1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58A445-BBBF-0A09-AED2-CA6D155B5ECA}"/>
              </a:ext>
            </a:extLst>
          </p:cNvPr>
          <p:cNvSpPr txBox="1"/>
          <p:nvPr/>
        </p:nvSpPr>
        <p:spPr>
          <a:xfrm>
            <a:off x="314631" y="5214768"/>
            <a:ext cx="1010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JSON generating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32927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CC1A20-4AF6-07B4-6553-5E1732153A83}"/>
              </a:ext>
            </a:extLst>
          </p:cNvPr>
          <p:cNvSpPr/>
          <p:nvPr/>
        </p:nvSpPr>
        <p:spPr>
          <a:xfrm>
            <a:off x="412955" y="1716063"/>
            <a:ext cx="11267768" cy="45569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1B809-2046-AF6C-9390-6940B261A449}"/>
              </a:ext>
            </a:extLst>
          </p:cNvPr>
          <p:cNvSpPr txBox="1"/>
          <p:nvPr/>
        </p:nvSpPr>
        <p:spPr>
          <a:xfrm>
            <a:off x="916155" y="2009362"/>
            <a:ext cx="1100545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gpt-4o</a:t>
            </a:r>
          </a:p>
          <a:p>
            <a:pPr>
              <a:buNone/>
            </a:pPr>
            <a:r>
              <a:rPr lang="en-1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0.6</a:t>
            </a:r>
          </a:p>
          <a:p>
            <a:pPr>
              <a:buNone/>
            </a:pPr>
            <a:r>
              <a:rPr lang="en-1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max_completion_tokens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300</a:t>
            </a:r>
          </a:p>
          <a:p>
            <a:pPr>
              <a:buNone/>
            </a:pPr>
            <a:r>
              <a:rPr lang="en-1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frequency_penalty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0.5</a:t>
            </a:r>
          </a:p>
          <a:p>
            <a:pPr>
              <a:buNone/>
            </a:pPr>
            <a:r>
              <a:rPr lang="en-1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reasoning_effort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low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messages {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1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role:system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content : 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 are a child"</a:t>
            </a:r>
            <a:endParaRPr lang="en-1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(user): 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"What is your favourite animal?"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(assistant) - 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 favourite animal is cat"</a:t>
            </a: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(user)</a:t>
            </a:r>
            <a:r>
              <a:rPr lang="en-1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"And why?"</a:t>
            </a:r>
            <a:endParaRPr lang="en-1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1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AB254B-F68D-3F24-6F65-A79CCB163340}"/>
              </a:ext>
            </a:extLst>
          </p:cNvPr>
          <p:cNvSpPr txBox="1"/>
          <p:nvPr/>
        </p:nvSpPr>
        <p:spPr>
          <a:xfrm>
            <a:off x="866994" y="91739"/>
            <a:ext cx="10101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prompt.conf</a:t>
            </a:r>
            <a:endParaRPr lang="uk-UA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8C487C-C4BD-38EA-B2EE-1B435E9632BE}"/>
              </a:ext>
            </a:extLst>
          </p:cNvPr>
          <p:cNvSpPr txBox="1"/>
          <p:nvPr/>
        </p:nvSpPr>
        <p:spPr>
          <a:xfrm>
            <a:off x="412955" y="1124549"/>
            <a:ext cx="1010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 prompt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02180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386FD-150F-F1BD-B047-825A1B82D97B}"/>
              </a:ext>
            </a:extLst>
          </p:cNvPr>
          <p:cNvSpPr/>
          <p:nvPr/>
        </p:nvSpPr>
        <p:spPr>
          <a:xfrm>
            <a:off x="147484" y="167149"/>
            <a:ext cx="6607277" cy="648929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9FC8D1-79A4-756A-616E-28F5B0E45FB1}"/>
              </a:ext>
            </a:extLst>
          </p:cNvPr>
          <p:cNvSpPr txBox="1"/>
          <p:nvPr/>
        </p:nvSpPr>
        <p:spPr>
          <a:xfrm>
            <a:off x="217012" y="305068"/>
            <a:ext cx="10929257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"model"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150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"gpt-4o"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"temperature"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150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150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max_completion_tokens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150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150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frequency_penalty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150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150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reasoning_effort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150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"low"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"messages"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150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"system"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150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 are a child"</a:t>
            </a:r>
            <a:endParaRPr lang="en-150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150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150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"What is your favourite animal?"</a:t>
            </a:r>
            <a:endParaRPr lang="en-150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150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"assistant"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150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 favourite animal is cat"</a:t>
            </a:r>
            <a:endParaRPr lang="en-150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150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150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150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"And why?"</a:t>
            </a:r>
            <a:endParaRPr lang="en-150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pPr>
              <a:buNone/>
            </a:pPr>
            <a:r>
              <a:rPr lang="en-150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D7136-3685-9F37-7A46-9330524B3578}"/>
              </a:ext>
            </a:extLst>
          </p:cNvPr>
          <p:cNvSpPr txBox="1"/>
          <p:nvPr/>
        </p:nvSpPr>
        <p:spPr>
          <a:xfrm>
            <a:off x="4751385" y="277517"/>
            <a:ext cx="10101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output.json</a:t>
            </a:r>
            <a:endParaRPr lang="uk-UA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1C229-77FD-F831-4ECF-D6755AF05FD7}"/>
              </a:ext>
            </a:extLst>
          </p:cNvPr>
          <p:cNvSpPr txBox="1"/>
          <p:nvPr/>
        </p:nvSpPr>
        <p:spPr>
          <a:xfrm>
            <a:off x="7506119" y="1178357"/>
            <a:ext cx="3909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JSON file which was created on my prompt (</a:t>
            </a:r>
            <a:r>
              <a:rPr lang="en-US" dirty="0" err="1"/>
              <a:t>prompt.conf</a:t>
            </a:r>
            <a:r>
              <a:rPr lang="en-US" dirty="0"/>
              <a:t>)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04769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3B3DB7-7D6A-5F05-B667-499AE91DD00D}"/>
              </a:ext>
            </a:extLst>
          </p:cNvPr>
          <p:cNvSpPr txBox="1"/>
          <p:nvPr/>
        </p:nvSpPr>
        <p:spPr>
          <a:xfrm>
            <a:off x="334297" y="528509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Evaluation:</a:t>
            </a:r>
            <a:endParaRPr lang="en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proves how SLE concepts can be applied to solve real-world engineering problems in the Generative AI domain.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 DSL drastically improves developer experience compared to writing raw, low-level data formats like JSON.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F7272C-4BC7-D400-A014-FBB3A428AC15}"/>
              </a:ext>
            </a:extLst>
          </p:cNvPr>
          <p:cNvSpPr txBox="1"/>
          <p:nvPr/>
        </p:nvSpPr>
        <p:spPr>
          <a:xfrm>
            <a:off x="5565058" y="3535995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 from the SLE Approach:</a:t>
            </a:r>
            <a:endParaRPr lang="en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validation: </a:t>
            </a:r>
            <a:r>
              <a:rPr lang="en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error detection from runtime to parse-time means parameter bounds and constraints are checked before any execution or network requests.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1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oncrete</a:t>
            </a:r>
            <a:r>
              <a:rPr lang="en-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1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bstract</a:t>
            </a:r>
            <a:r>
              <a:rPr lang="en-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1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yntax</a:t>
            </a:r>
            <a:r>
              <a:rPr lang="en-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Thanks to </a:t>
            </a:r>
            <a:r>
              <a:rPr lang="en-1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textX</a:t>
            </a:r>
            <a:r>
              <a:rPr lang="en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can offer multiple user-friendly visual styles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parsing them into the exact same unified Abstract Syntax Tree.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Model-Driven Generation:</a:t>
            </a:r>
            <a:r>
              <a:rPr lang="en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language compiler serves as a true translator, automating the transformation from a high-level model to a production-ready API payload.</a:t>
            </a:r>
          </a:p>
        </p:txBody>
      </p:sp>
      <p:pic>
        <p:nvPicPr>
          <p:cNvPr id="7" name="Picture 6" descr="Was ist eine JSON-Datei und wie lässt sie sich öffnen?">
            <a:extLst>
              <a:ext uri="{FF2B5EF4-FFF2-40B4-BE49-F238E27FC236}">
                <a16:creationId xmlns:a16="http://schemas.microsoft.com/office/drawing/2014/main" id="{A3F89D02-69F1-C8AB-EF8C-096760941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702" y="744299"/>
            <a:ext cx="3303639" cy="13227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E59FEA-21F7-FA28-61C6-89EB97BF4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10" y="4136724"/>
            <a:ext cx="5270090" cy="150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76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1294</Words>
  <Application>Microsoft Office PowerPoint</Application>
  <PresentationFormat>Widescreen</PresentationFormat>
  <Paragraphs>196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Times New Roman</vt:lpstr>
      <vt:lpstr>Office Theme</vt:lpstr>
      <vt:lpstr>Language Implementation within the Prompt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Pasha Cage</dc:creator>
  <cp:lastModifiedBy>Pasha Cage</cp:lastModifiedBy>
  <cp:revision>34</cp:revision>
  <dcterms:created xsi:type="dcterms:W3CDTF">2026-06-09T14:14:07Z</dcterms:created>
  <dcterms:modified xsi:type="dcterms:W3CDTF">2026-06-10T12:38:15Z</dcterms:modified>
</cp:coreProperties>
</file>